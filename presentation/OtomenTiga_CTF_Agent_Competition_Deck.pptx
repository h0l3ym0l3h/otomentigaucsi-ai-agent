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caae857cfe42f1" /><Relationship Type="http://schemas.openxmlformats.org/officeDocument/2006/relationships/extended-properties" Target="/docProps/app.xml" Id="R95e07e098ec6421f" /><Relationship Type="http://schemas.openxmlformats.org/officeDocument/2006/relationships/officeDocument" Target="/ppt/presentation.xml" Id="R8f965a1a363e45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607f5e48e94cdd"/>
  </p:sldMasterIdLst>
  <p:notesMasterIdLst>
    <p:notesMasterId xmlns:r="http://schemas.openxmlformats.org/officeDocument/2006/relationships" r:id="Rd3ed7fb5936b4627"/>
  </p:notesMasterIdLst>
  <p:sldIdLst>
    <p:sldId xmlns:r="http://schemas.openxmlformats.org/officeDocument/2006/relationships" id="256" r:id="R9ae5512477c44122"/>
    <p:sldId xmlns:r="http://schemas.openxmlformats.org/officeDocument/2006/relationships" id="257" r:id="R0a5224f8b2d74533"/>
    <p:sldId xmlns:r="http://schemas.openxmlformats.org/officeDocument/2006/relationships" id="258" r:id="R583dffc449154cdb"/>
    <p:sldId xmlns:r="http://schemas.openxmlformats.org/officeDocument/2006/relationships" id="259" r:id="R0defa40bc4304cd2"/>
    <p:sldId xmlns:r="http://schemas.openxmlformats.org/officeDocument/2006/relationships" id="260" r:id="Recf6915b0cdb4bd2"/>
    <p:sldId xmlns:r="http://schemas.openxmlformats.org/officeDocument/2006/relationships" id="261" r:id="Rac1c861f0309442a"/>
    <p:sldId xmlns:r="http://schemas.openxmlformats.org/officeDocument/2006/relationships" id="262" r:id="R538657523d7a428b"/>
    <p:sldId xmlns:r="http://schemas.openxmlformats.org/officeDocument/2006/relationships" id="263" r:id="Rf7d6ba87fad74d5d"/>
    <p:sldId xmlns:r="http://schemas.openxmlformats.org/officeDocument/2006/relationships" id="264" r:id="Rcd895a61e6f048ee"/>
    <p:sldId xmlns:r="http://schemas.openxmlformats.org/officeDocument/2006/relationships" id="265" r:id="R1006e589d0fa4692"/>
    <p:sldId xmlns:r="http://schemas.openxmlformats.org/officeDocument/2006/relationships" id="266" r:id="Ra477e19f059349be"/>
    <p:sldId xmlns:r="http://schemas.openxmlformats.org/officeDocument/2006/relationships" id="267" r:id="Re7567bad92784542"/>
    <p:sldId xmlns:r="http://schemas.openxmlformats.org/officeDocument/2006/relationships" id="268" r:id="R7d1d5fde0ee94a79"/>
    <p:sldId xmlns:r="http://schemas.openxmlformats.org/officeDocument/2006/relationships" id="269" r:id="R126db3f9a62046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ac12dcb50d45da" /><Relationship Type="http://schemas.openxmlformats.org/officeDocument/2006/relationships/slideMaster" Target="/ppt/slideMasters/slideMaster1.xml" Id="Rd6607f5e48e94cdd" /><Relationship Type="http://schemas.openxmlformats.org/officeDocument/2006/relationships/notesMaster" Target="/ppt/notesMasters/notesMaster1.xml" Id="Rd3ed7fb5936b4627" /><Relationship Type="http://schemas.openxmlformats.org/officeDocument/2006/relationships/presProps" Target="/ppt/presProps.xml" Id="Rbc8c3d0948d74554" /><Relationship Type="http://schemas.openxmlformats.org/officeDocument/2006/relationships/tableStyles" Target="/ppt/tableStyles.xml" Id="R56fa13eccadf4606" /><Relationship Type="http://schemas.openxmlformats.org/officeDocument/2006/relationships/slide" Target="/ppt/slides/slide1.xml" Id="R9ae5512477c44122" /><Relationship Type="http://schemas.openxmlformats.org/officeDocument/2006/relationships/slide" Target="/ppt/slides/slide2.xml" Id="R0a5224f8b2d74533" /><Relationship Type="http://schemas.openxmlformats.org/officeDocument/2006/relationships/slide" Target="/ppt/slides/slide3.xml" Id="R583dffc449154cdb" /><Relationship Type="http://schemas.openxmlformats.org/officeDocument/2006/relationships/slide" Target="/ppt/slides/slide4.xml" Id="R0defa40bc4304cd2" /><Relationship Type="http://schemas.openxmlformats.org/officeDocument/2006/relationships/slide" Target="/ppt/slides/slide5.xml" Id="Recf6915b0cdb4bd2" /><Relationship Type="http://schemas.openxmlformats.org/officeDocument/2006/relationships/slide" Target="/ppt/slides/slide6.xml" Id="Rac1c861f0309442a" /><Relationship Type="http://schemas.openxmlformats.org/officeDocument/2006/relationships/slide" Target="/ppt/slides/slide7.xml" Id="R538657523d7a428b" /><Relationship Type="http://schemas.openxmlformats.org/officeDocument/2006/relationships/slide" Target="/ppt/slides/slide8.xml" Id="Rf7d6ba87fad74d5d" /><Relationship Type="http://schemas.openxmlformats.org/officeDocument/2006/relationships/slide" Target="/ppt/slides/slide9.xml" Id="Rcd895a61e6f048ee" /><Relationship Type="http://schemas.openxmlformats.org/officeDocument/2006/relationships/slide" Target="/ppt/slides/slide10.xml" Id="R1006e589d0fa4692" /><Relationship Type="http://schemas.openxmlformats.org/officeDocument/2006/relationships/slide" Target="/ppt/slides/slide11.xml" Id="Ra477e19f059349be" /><Relationship Type="http://schemas.openxmlformats.org/officeDocument/2006/relationships/slide" Target="/ppt/slides/slide12.xml" Id="Re7567bad92784542" /><Relationship Type="http://schemas.openxmlformats.org/officeDocument/2006/relationships/slide" Target="/ppt/slides/slide13.xml" Id="R7d1d5fde0ee94a79" /><Relationship Type="http://schemas.openxmlformats.org/officeDocument/2006/relationships/slide" Target="/ppt/slides/slide14.xml" Id="R126db3f9a62046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50810249cf4d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c1282ecff94520" /><Relationship Type="http://schemas.openxmlformats.org/officeDocument/2006/relationships/notesMaster" Target="/ppt/notesMasters/notesMaster1.xml" Id="R431d8d72918045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3b3e4a2f024435" /><Relationship Type="http://schemas.openxmlformats.org/officeDocument/2006/relationships/notesMaster" Target="/ppt/notesMasters/notesMaster1.xml" Id="R98760061213a41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de3019181141c5" /><Relationship Type="http://schemas.openxmlformats.org/officeDocument/2006/relationships/notesMaster" Target="/ppt/notesMasters/notesMaster1.xml" Id="Raa47f130f8c940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a7ceacf74149e7" /><Relationship Type="http://schemas.openxmlformats.org/officeDocument/2006/relationships/notesMaster" Target="/ppt/notesMasters/notesMaster1.xml" Id="R5b99b3421b9749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0866ad28ab4151" /><Relationship Type="http://schemas.openxmlformats.org/officeDocument/2006/relationships/notesMaster" Target="/ppt/notesMasters/notesMaster1.xml" Id="R9099e590740949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4c67968ceb459c" /><Relationship Type="http://schemas.openxmlformats.org/officeDocument/2006/relationships/notesMaster" Target="/ppt/notesMasters/notesMaster1.xml" Id="Rb25ea12808a544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a3ff96ce0c498a" /><Relationship Type="http://schemas.openxmlformats.org/officeDocument/2006/relationships/notesMaster" Target="/ppt/notesMasters/notesMaster1.xml" Id="Rfd6d8af0d3204e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48f27e200c4eb0" /><Relationship Type="http://schemas.openxmlformats.org/officeDocument/2006/relationships/notesMaster" Target="/ppt/notesMasters/notesMaster1.xml" Id="Rac03bfff664f4d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16e540eb9744e1" /><Relationship Type="http://schemas.openxmlformats.org/officeDocument/2006/relationships/notesMaster" Target="/ppt/notesMasters/notesMaster1.xml" Id="R21e7a7ecb17c42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a3c4d534e7405b" /><Relationship Type="http://schemas.openxmlformats.org/officeDocument/2006/relationships/notesMaster" Target="/ppt/notesMasters/notesMaster1.xml" Id="R66cf1cea276349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2b3bb2cefd4b33" /><Relationship Type="http://schemas.openxmlformats.org/officeDocument/2006/relationships/notesMaster" Target="/ppt/notesMasters/notesMaster1.xml" Id="R75da3af60f5a4c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a476d27bae4d47" /><Relationship Type="http://schemas.openxmlformats.org/officeDocument/2006/relationships/notesMaster" Target="/ppt/notesMasters/notesMaster1.xml" Id="Rb96de618de5348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1f998ca85a4bde" /><Relationship Type="http://schemas.openxmlformats.org/officeDocument/2006/relationships/notesMaster" Target="/ppt/notesMasters/notesMaster1.xml" Id="Rcfe35894584148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e0653f8c9c428d" /><Relationship Type="http://schemas.openxmlformats.org/officeDocument/2006/relationships/notesMaster" Target="/ppt/notesMasters/notesMaster1.xml" Id="R99ad23c92c034b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this is an execution harness, not a chatbot. Emphasize that successful techniques remain replayable after the model session ends.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D:/UCS AGENT/README.md (accessed 2026-08-06)</a:t>
            </a:r>
          </a:p>
          <a:p xmlns:a="http://schemas.openxmlformats.org/drawingml/2006/main">
            <a:r>
              <a:t>- D:/UCS AGENT/run.py (accessed 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judging standard: useful reasoning must become an executed, observable, repeatable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D:/UCS AGENT/agent/core.py (accessed 2026-08-06)</a:t>
            </a:r>
          </a:p>
          <a:p xmlns:a="http://schemas.openxmlformats.org/drawingml/2006/main">
            <a:r>
              <a:t>- D:/UCS AGENT/agent/tools/__init__.py (accessed 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numbers as proof of system range, not vanity metrics. Eight solvers are registered in the CLI; thirteen tools are bound to the model; four providers share one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D:/UCS AGENT/run.py (accessed 2026-08-06)</a:t>
            </a:r>
          </a:p>
          <a:p xmlns:a="http://schemas.openxmlformats.org/drawingml/2006/main">
            <a:r>
              <a:t>- D:/UCS AGENT/agent/tools/__init__.py (accessed 2026-08-06)</a:t>
            </a:r>
          </a:p>
          <a:p xmlns:a="http://schemas.openxmlformats.org/drawingml/2006/main">
            <a:r>
              <a:t>- D:/UCS AGENT/agent/llm.py (accessed 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actual graph, not an aspirational multi-stage diagram. The graph has a reason node and a ToolNode. Conditional edges stop on a flag, the maximum iteration count, or an answer with no tool calls.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D:/UCS AGENT/agent/core.py (accessed 2026-08-06)</a:t>
            </a:r>
          </a:p>
          <a:p xmlns:a="http://schemas.openxmlformats.org/drawingml/2006/main">
            <a:r>
              <a:t>- D:/UCS AGENT/agent/llm.py (accessed 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important implementation choice is stateful iteration: tool results become messages, so the next decision is grounded in the latest observation.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D:/UCS AGENT/agent/core.py (accessed 2026-08-06)</a:t>
            </a:r>
          </a:p>
          <a:p xmlns:a="http://schemas.openxmlformats.org/drawingml/2006/main">
            <a:r>
              <a:t>- D:/UCS AGENT/agent/prompts.py (accessed 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thirteen functions are decorated LangChain tools and bound to the model. Emphasize structured tool schemas and observable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D:/UCS AGENT/agent/tools/__init__.py (accessed 2026-08-06)</a:t>
            </a:r>
          </a:p>
          <a:p xmlns:a="http://schemas.openxmlformats.org/drawingml/2006/main">
            <a:r>
              <a:t>- D:/UCS AGENT/agent/tools/web_tools.py (accessed 2026-08-06)</a:t>
            </a:r>
          </a:p>
          <a:p xmlns:a="http://schemas.openxmlformats.org/drawingml/2006/main">
            <a:r>
              <a:t>- D:/UCS AGENT/agent/tools/binary_analysis.py (accessed 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implementation decisions visible in code. The default generated-code executor is a local subprocess with limits, not a hardened sandbox.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D:/UCS AGENT/agent/llm.py (accessed 2026-08-06)</a:t>
            </a:r>
          </a:p>
          <a:p xmlns:a="http://schemas.openxmlformats.org/drawingml/2006/main">
            <a:r>
              <a:t>- D:/UCS AGENT/agent/prompts.py (accessed 2026-08-06)</a:t>
            </a:r>
          </a:p>
          <a:p xmlns:a="http://schemas.openxmlformats.org/drawingml/2006/main">
            <a:r>
              <a:t>- D:/UCS AGENT/agent/config.py (accessed 2026-08-06)</a:t>
            </a:r>
          </a:p>
          <a:p xmlns:a="http://schemas.openxmlformats.org/drawingml/2006/main">
            <a:r>
              <a:t>- D:/UCS AGENT/agent/tools/code_executor.py (accessed 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every flag was produced autonomously by the current local model. The evidence is eight registered captures with challenge-specific replay modules across web, pwn, and firmware.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D:/UCS AGENT/run.py (accessed 2026-08-06)</a:t>
            </a:r>
          </a:p>
          <a:p xmlns:a="http://schemas.openxmlformats.org/drawingml/2006/main">
            <a:r>
              <a:t>- D:/UCS AGENT/docs/writeup.md (accessed 2026-08-06)</a:t>
            </a:r>
          </a:p>
          <a:p xmlns:a="http://schemas.openxmlformats.org/drawingml/2006/main">
            <a:r>
              <a:t>- D:/UCS AGENT/solvers (accessed 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frontend confirms POST endpoints and 1.5-second balance polling. The live service kept balance at 1 while pending increased, directly demonstrating that pending debt was not 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http://52.76.96.108:3000/client.js (accessed 2026-08-06)</a:t>
            </a:r>
          </a:p>
          <a:p xmlns:a="http://schemas.openxmlformats.org/drawingml/2006/main">
            <a:r>
              <a:t>- D:/UCS AGENT/solvers/saturn_exchange.py (accessed 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verified that literal simultaneity is not required: rapid sequential requests also work within the settlement window. The solver uses true concurrency for reliability. Two 0.6 BTC requests are sufficient; three produce the clearer -0.8 result shown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D:/UCS AGENT/solvers/saturn_exchange.py (accessed 2026-08-06)</a:t>
            </a:r>
          </a:p>
          <a:p xmlns:a="http://schemas.openxmlformats.org/drawingml/2006/main">
            <a:r>
              <a:t>- Live Saturn Exchange replay (2026-08-06)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evidence slide. The target returned HTTP 200 for all three withdrawals, then reported pending zero, balance -0.8, and the flag in both the top-level flag field and the last transaction settlement override.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http://52.76.96.108:3000/ (accessed 2026-08-06)</a:t>
            </a:r>
          </a:p>
          <a:p xmlns:a="http://schemas.openxmlformats.org/drawingml/2006/main">
            <a:r>
              <a:t>- D:/UCS AGENT/solvers/saturn_exchange.py (accessed 2026-08-06)</a:t>
            </a:r>
          </a:p>
          <a:p xmlns:a="http://schemas.openxmlformats.org/drawingml/2006/main">
            <a:r>
              <a:t>- Independent live replay output (2026-08-06)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examples to show that the value is the harness pattern, not one web exploit. The tool suite and category prompts support different evidence and action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D:/UCS AGENT/docs/writeup.md (accessed 2026-08-06)</a:t>
            </a:r>
          </a:p>
          <a:p xmlns:a="http://schemas.openxmlformats.org/drawingml/2006/main">
            <a:r>
              <a:t>- D:/UCS AGENT/solvers/grimoire_heap.py (accessed 2026-08-06)</a:t>
            </a:r>
          </a:p>
          <a:p xmlns:a="http://schemas.openxmlformats.org/drawingml/2006/main">
            <a:r>
              <a:t>- D:/UCS AGENT/solvers/sandworm_vm.py (accessed 2026-08-06)</a:t>
            </a:r>
          </a:p>
          <a:p xmlns:a="http://schemas.openxmlformats.org/drawingml/2006/main">
            <a:r>
              <a:t>- D:/UCS AGENT/solvers/oldstock_router.py (accessed 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direct about the current boundary. The autonomous core extracts UCSI26-shaped strings from model output. For proof, use the target response and deterministic solver. The default code executor is a limited local subprocess; DockerSandbox and LoopDetector modules exist but are not wired into the default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D:/UCS AGENT/agent/core.py (accessed 2026-08-06)</a:t>
            </a:r>
          </a:p>
          <a:p xmlns:a="http://schemas.openxmlformats.org/drawingml/2006/main">
            <a:r>
              <a:t>- D:/UCS AGENT/agent/utils.py (accessed 2026-08-06)</a:t>
            </a:r>
          </a:p>
          <a:p xmlns:a="http://schemas.openxmlformats.org/drawingml/2006/main">
            <a:r>
              <a:t>- D:/UCS AGENT/agent/tools/code_executor.py (accessed 2026-08-06)</a:t>
            </a:r>
          </a:p>
          <a:p xmlns:a="http://schemas.openxmlformats.org/drawingml/2006/main">
            <a:r>
              <a:t>- D:/UCS AGENT/README.md (accessed 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 tension: the agent does more than advise. Invite the judges to run the Saturn replay and inspect the linked source and writeups.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D:/UCS AGENT/README.md (accessed 2026-08-06)</a:t>
            </a:r>
          </a:p>
          <a:p xmlns:a="http://schemas.openxmlformats.org/drawingml/2006/main">
            <a:r>
              <a:t>- https://github.com/H0l3yM0l3h/OtomenTigaUCSI-AI-Agent (accessed 2026-08-06)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ce015842e4a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92c950d66e44f9" /><Relationship Type="http://schemas.openxmlformats.org/officeDocument/2006/relationships/slideLayout" Target="/ppt/slideLayouts/slideLayout1.xml" Id="R80d4cfa94a6243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d4cfa94a6243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ffb5b5cac4c12" /><Relationship Type="http://schemas.openxmlformats.org/officeDocument/2006/relationships/notesSlide" Target="/ppt/notesSlides/notesSlide1.xml" Id="R34fec1016eaf41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67a6098f8412e" /><Relationship Type="http://schemas.openxmlformats.org/officeDocument/2006/relationships/notesSlide" Target="/ppt/notesSlides/notesSlide2.xml" Id="R0328f060401d4d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30f22671d418e" /><Relationship Type="http://schemas.openxmlformats.org/officeDocument/2006/relationships/notesSlide" Target="/ppt/notesSlides/notesSlide3.xml" Id="R12729f02271f49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c94867efe45d1" /><Relationship Type="http://schemas.openxmlformats.org/officeDocument/2006/relationships/notesSlide" Target="/ppt/notesSlides/notesSlide4.xml" Id="R4ff14ae8bd6242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46cc35f454dae" /><Relationship Type="http://schemas.openxmlformats.org/officeDocument/2006/relationships/notesSlide" Target="/ppt/notesSlides/notesSlide5.xml" Id="R15afb10dd3ab4b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01a8f40ce41c5" /><Relationship Type="http://schemas.openxmlformats.org/officeDocument/2006/relationships/notesSlide" Target="/ppt/notesSlides/notesSlide6.xml" Id="Rdc2b923750b94e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ea29670cb4681" /><Relationship Type="http://schemas.openxmlformats.org/officeDocument/2006/relationships/notesSlide" Target="/ppt/notesSlides/notesSlide7.xml" Id="R617f182a7fa245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57164863648af" /><Relationship Type="http://schemas.openxmlformats.org/officeDocument/2006/relationships/notesSlide" Target="/ppt/notesSlides/notesSlide8.xml" Id="R4045b0742c8247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4cf5c41f8461b" /><Relationship Type="http://schemas.openxmlformats.org/officeDocument/2006/relationships/notesSlide" Target="/ppt/notesSlides/notesSlide9.xml" Id="Re6fb81b8be6846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365b5571e4ce0" /><Relationship Type="http://schemas.openxmlformats.org/officeDocument/2006/relationships/notesSlide" Target="/ppt/notesSlides/notesSlide10.xml" Id="R98e7120dd9b14e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e52d42bc34f78" /><Relationship Type="http://schemas.openxmlformats.org/officeDocument/2006/relationships/notesSlide" Target="/ppt/notesSlides/notesSlide11.xml" Id="R750e98de5cdb40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6be1739444497" /><Relationship Type="http://schemas.openxmlformats.org/officeDocument/2006/relationships/notesSlide" Target="/ppt/notesSlides/notesSlide12.xml" Id="Rdb87545f6f0142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1e599a455443b" /><Relationship Type="http://schemas.openxmlformats.org/officeDocument/2006/relationships/notesSlide" Target="/ppt/notesSlides/notesSlide13.xml" Id="R7eca7c6dd34e4b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d496390eb4053" /><Relationship Type="http://schemas.openxmlformats.org/officeDocument/2006/relationships/notesSlide" Target="/ppt/notesSlides/notesSlide14.xml" Id="R4b8956d61c3846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0A3A4DE1-FF7D-40DF-80AC-477CBDEF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agent that turns reasoning into replayable exploits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7AAB639-DFBB-4EA8-87AC-16F6AAEB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 captures · 13 tools · 4 model providers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19615AB-3EAA-4ACA-8181-B06A4DD4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TEAM OTOMENTIGA  /  UCSI 2026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0A0B8AF-7E5F-47A8-9910-35E72ADC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1000"/>
            <a:ext cx="85725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99377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8C82991-CDDE-49D8-AFEA-F277212E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47B8AB8-D2EE-4100-81AC-B7316601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Advice is not an exploit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82CEEDEC-C1E2-4CF1-A6D5-4635AD79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605A396-4D24-4518-AA88-06791F6D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Typical assistant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9173883C-22B6-440E-AC2F-FB386992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Suggests tests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Stops at prose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Leaves no replayable proof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65802B28-943F-49F4-BE05-92995F22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A155D1B-9FF0-4E80-B3FC-CD142EB0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OtomenTiga agent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9F260AA-8282-4D5A-9201-1B2CEF83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Calls real tools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Learns from observations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Preserves the exploit path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1AA33E5-7509-4196-902D-ADECA78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gap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 AI can describe a vulnerability and still fail the challenge.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Winning requires a closed loop between reasoning, action, and evidence.</a:t>
            </a:r>
          </a:p>
        </p:txBody>
      </p:sp>
      <p:sp>
        <p:nvSpPr>
          <p:cNvPr id="10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80A9A2EB-7AB4-4024-9888-9028E3B3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34696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4126D987-A579-4EA1-A7B4-C3C2F503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9193356-3ECA-4B32-B0CB-40161F05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9FB38E4-3A1D-4D0B-8D72-5E911456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227EAB4-E8A0-4E86-AA64-10A7447D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0F25772-4F11-4F48-B78F-428CEBF5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harness already proves breadth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6DBA73E-AF5B-4602-83F2-362BA2EA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captured challenges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2559860-20BE-452E-B81B-EAEA83EA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 providers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2167163C-E114-415C-B814-AE7B90F2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callable tools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F24D873-C6A3-465A-B020-6767F1DA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630FD62-9522-41E3-AEDB-2E431DBB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F48262F-DF8C-4200-BD06-09CF067A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5E877C2-D2D6-40E6-B1B6-257636F2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workflow, two execution modes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Autonomous discovery explores the unknown. Deterministic solvers replay the successful path as judge-verifiable evidence.</a:t>
            </a:r>
          </a:p>
        </p:txBody>
      </p:sp>
      <p:sp>
        <p:nvSpPr>
          <p:cNvPr id="13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1C37A18E-D669-40AE-A697-2E4EC050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3247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FF3B67D0-B2C1-463E-90DF-6EEAF8F2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two-node graph closes the reasoning loop</a:t>
            </a:r>
          </a:p>
        </p:txBody>
      </p:sp>
      <p:sp>
        <p:nvSpPr>
          <p:cNvPr id="2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64450559-7953-4FCB-9548-668FBC94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Challenge context enters once; tool observations keep changing the next decision.</a:t>
            </a:r>
          </a:p>
        </p:txBody>
      </p:sp>
      <p:sp>
        <p:nvSpPr>
          <p:cNvPr id="3" name="input-box">
            <a:extLst xmlns:a="http://schemas.openxmlformats.org/drawingml/2006/main">
              <a:ext uri="{FF2B5EF4-FFF2-40B4-BE49-F238E27FC236}">
                <a16:creationId xmlns:a16="http://schemas.microsoft.com/office/drawing/2014/main" id="{AB154A35-6CEF-4C81-9A70-9B23D736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0002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input-heading">
            <a:extLst xmlns:a="http://schemas.openxmlformats.org/drawingml/2006/main">
              <a:ext uri="{FF2B5EF4-FFF2-40B4-BE49-F238E27FC236}">
                <a16:creationId xmlns:a16="http://schemas.microsoft.com/office/drawing/2014/main" id="{6CCE1A05-EA86-4894-9A34-FEA22C9F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66975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5" name="input-detail">
            <a:extLst xmlns:a="http://schemas.openxmlformats.org/drawingml/2006/main">
              <a:ext uri="{FF2B5EF4-FFF2-40B4-BE49-F238E27FC236}">
                <a16:creationId xmlns:a16="http://schemas.microsoft.com/office/drawing/2014/main" id="{DF926B38-4B53-4EA3-989D-6AE0759B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Description</a:t>
            </a:r>
          </a:p>
          <a:p xmlns:a="http://schemas.openxmlformats.org/drawingml/2006/main">
            <a:pPr>
              <a:def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  <a:p xmlns:a="http://schemas.openxmlformats.org/drawingml/2006/main">
            <a:pPr>
              <a:def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files · host · port</a:t>
            </a:r>
          </a:p>
        </p:txBody>
      </p:sp>
      <p:sp>
        <p:nvSpPr>
          <p:cNvPr id="6" name="reason-box">
            <a:extLst xmlns:a="http://schemas.openxmlformats.org/drawingml/2006/main">
              <a:ext uri="{FF2B5EF4-FFF2-40B4-BE49-F238E27FC236}">
                <a16:creationId xmlns:a16="http://schemas.microsoft.com/office/drawing/2014/main" id="{B09703AE-88DA-4BD2-A1EC-7A9F96F0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38375"/>
            <a:ext cx="22860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reason-heading">
            <a:extLst xmlns:a="http://schemas.openxmlformats.org/drawingml/2006/main">
              <a:ext uri="{FF2B5EF4-FFF2-40B4-BE49-F238E27FC236}">
                <a16:creationId xmlns:a16="http://schemas.microsoft.com/office/drawing/2014/main" id="{6DFAC72E-D528-47DB-97E3-5B7A0D9E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6697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REASON</a:t>
            </a:r>
          </a:p>
        </p:txBody>
      </p:sp>
      <p:sp>
        <p:nvSpPr>
          <p:cNvPr id="8" name="reason-detail">
            <a:extLst xmlns:a="http://schemas.openxmlformats.org/drawingml/2006/main">
              <a:ext uri="{FF2B5EF4-FFF2-40B4-BE49-F238E27FC236}">
                <a16:creationId xmlns:a16="http://schemas.microsoft.com/office/drawing/2014/main" id="{1437B9FC-66AA-4F6A-BCB4-37845E77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1828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LLM reads state</a:t>
            </a:r>
          </a:p>
          <a:p xmlns:a="http://schemas.openxmlformats.org/drawingml/2006/main">
            <a:pPr>
              <a:def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and chooses the</a:t>
            </a:r>
          </a:p>
          <a:p xmlns:a="http://schemas.openxmlformats.org/drawingml/2006/main">
            <a:pPr>
              <a:def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</p:txBody>
      </p:sp>
      <p:sp>
        <p:nvSpPr>
          <p:cNvPr id="9" name="tools-box">
            <a:extLst xmlns:a="http://schemas.openxmlformats.org/drawingml/2006/main">
              <a:ext uri="{FF2B5EF4-FFF2-40B4-BE49-F238E27FC236}">
                <a16:creationId xmlns:a16="http://schemas.microsoft.com/office/drawing/2014/main" id="{6A96A4F0-6EC9-4E68-930A-C5CD1D9C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2860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ools-heading">
            <a:extLst xmlns:a="http://schemas.openxmlformats.org/drawingml/2006/main">
              <a:ext uri="{FF2B5EF4-FFF2-40B4-BE49-F238E27FC236}">
                <a16:creationId xmlns:a16="http://schemas.microsoft.com/office/drawing/2014/main" id="{150FFE26-40B5-440C-A3C9-7CB91926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6697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TOOLS</a:t>
            </a:r>
          </a:p>
        </p:txBody>
      </p:sp>
      <p:sp>
        <p:nvSpPr>
          <p:cNvPr id="11" name="tools-detail">
            <a:extLst xmlns:a="http://schemas.openxmlformats.org/drawingml/2006/main">
              <a:ext uri="{FF2B5EF4-FFF2-40B4-BE49-F238E27FC236}">
                <a16:creationId xmlns:a16="http://schemas.microsoft.com/office/drawing/2014/main" id="{24D65183-6C90-4B4A-88F0-40B91C29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0375"/>
            <a:ext cx="1828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LangGraph runs</a:t>
            </a:r>
          </a:p>
          <a:p xmlns:a="http://schemas.openxmlformats.org/drawingml/2006/main">
            <a:pPr>
              <a:def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one or more of</a:t>
            </a:r>
          </a:p>
          <a:p xmlns:a="http://schemas.openxmlformats.org/drawingml/2006/main">
            <a:pPr>
              <a:def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13 functions</a:t>
            </a:r>
          </a:p>
        </p:txBody>
      </p:sp>
      <p:sp>
        <p:nvSpPr>
          <p:cNvPr id="12" name="proof-box">
            <a:extLst xmlns:a="http://schemas.openxmlformats.org/drawingml/2006/main">
              <a:ext uri="{FF2B5EF4-FFF2-40B4-BE49-F238E27FC236}">
                <a16:creationId xmlns:a16="http://schemas.microsoft.com/office/drawing/2014/main" id="{DB739433-4566-46AF-B059-51F04541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38375"/>
            <a:ext cx="25146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proof-heading">
            <a:extLst xmlns:a="http://schemas.openxmlformats.org/drawingml/2006/main">
              <a:ext uri="{FF2B5EF4-FFF2-40B4-BE49-F238E27FC236}">
                <a16:creationId xmlns:a16="http://schemas.microsoft.com/office/drawing/2014/main" id="{D111AB2D-3E12-410C-AC3B-949A942A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66975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RESULT</a:t>
            </a:r>
          </a:p>
        </p:txBody>
      </p:sp>
      <p:sp>
        <p:nvSpPr>
          <p:cNvPr id="14" name="proof-detail">
            <a:extLst xmlns:a="http://schemas.openxmlformats.org/drawingml/2006/main">
              <a:ext uri="{FF2B5EF4-FFF2-40B4-BE49-F238E27FC236}">
                <a16:creationId xmlns:a16="http://schemas.microsoft.com/office/drawing/2014/main" id="{85AD4F0A-CC19-4B07-B90E-3258A516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0375"/>
            <a:ext cx="2057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flag found</a:t>
            </a:r>
          </a:p>
          <a:p xmlns:a="http://schemas.openxmlformats.org/drawingml/2006/main">
            <a:pPr>
              <a:def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no tool call</a:t>
            </a:r>
          </a:p>
          <a:p xmlns:a="http://schemas.openxmlformats.org/drawingml/2006/main">
            <a:pPr>
              <a:def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A616B"/>
                </a:solidFill>
                <a:latin typeface="Helvetica Neue"/>
                <a:ea typeface="Helvetica Neue"/>
                <a:cs typeface="Helvetica Neue"/>
              </a:rPr>
              <a:t>or iteration cap</a:t>
            </a:r>
          </a:p>
        </p:txBody>
      </p:sp>
      <p:cxnSp>
        <p:nvCxnSpPr>
          <p:cNvPr id="37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00300" y="3071813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391150" y="3071813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77250" y="3071813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8" name="providers-label">
            <a:extLst xmlns:a="http://schemas.openxmlformats.org/drawingml/2006/main">
              <a:ext uri="{FF2B5EF4-FFF2-40B4-BE49-F238E27FC236}">
                <a16:creationId xmlns:a16="http://schemas.microsoft.com/office/drawing/2014/main" id="{1CDAF782-D8E7-43A2-9E52-A2F6A84E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338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OpenAI · Anthropic · Ollama · Groq</a:t>
            </a:r>
          </a:p>
        </p:txBody>
      </p:sp>
      <p:sp>
        <p:nvSpPr>
          <p:cNvPr id="19" name="tools-label">
            <a:extLst xmlns:a="http://schemas.openxmlformats.org/drawingml/2006/main">
              <a:ext uri="{FF2B5EF4-FFF2-40B4-BE49-F238E27FC236}">
                <a16:creationId xmlns:a16="http://schemas.microsoft.com/office/drawing/2014/main" id="{40D16F78-4EB4-42C2-8106-7052C8B9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binary · web · network · code · files</a:t>
            </a:r>
          </a:p>
        </p:txBody>
      </p:sp>
      <p:sp>
        <p:nvSpPr>
          <p:cNvPr id="20" name="replay-label">
            <a:extLst xmlns:a="http://schemas.openxmlformats.org/drawingml/2006/main">
              <a:ext uri="{FF2B5EF4-FFF2-40B4-BE49-F238E27FC236}">
                <a16:creationId xmlns:a16="http://schemas.microsoft.com/office/drawing/2014/main" id="{E65731E4-7929-4BB3-8021-36A6AE6B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33875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successful path → solver replay</a:t>
            </a:r>
          </a:p>
        </p:txBody>
      </p:sp>
      <p:sp>
        <p:nvSpPr>
          <p:cNvPr id="21" name="architecture-footer">
            <a:extLst xmlns:a="http://schemas.openxmlformats.org/drawingml/2006/main">
              <a:ext uri="{FF2B5EF4-FFF2-40B4-BE49-F238E27FC236}">
                <a16:creationId xmlns:a16="http://schemas.microsoft.com/office/drawing/2014/main" id="{076F5F37-A053-45C0-9939-0221556D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855B6184-B086-400F-8B1F-A9034650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37217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484391A-50D8-4F60-AA02-8E487631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8A30EF1-2565-4DE8-A9D2-8BDAB8A7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observation changes the next move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4B38F84-52A8-4F4D-AD7C-5110D7A7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CD66EA3-8B51-48DC-B467-8605F7EF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35EE888-C5B4-4FD4-9AD6-A0B8744B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FB780A0-897F-4057-807B-F55AE5C9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OBSERVE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58F0EE2-76B3-41F6-96D1-C7253CF3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ACT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C576742-A582-427A-B3A7-7147A85F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VERIFY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2182A01-A6B5-411B-8480-962CED23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a tool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binary, web, network, file, or code actions through structured schemas.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AF4A310-4BB8-40E9-9AE3-222F1B03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context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prompt, files, target, and complete message history.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88AA6E3-2227-4A88-84C6-DCFF33CA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Adapt or stop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Feed results back to the model; finish on evidence or a bounded termination condition.</a:t>
            </a:r>
          </a:p>
        </p:txBody>
      </p:sp>
      <p:sp>
        <p:nvSpPr>
          <p:cNvPr id="13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ADDA2388-D0A9-4FCE-A274-DF70CCBF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69372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A89C401-F230-4B73-A005-8C8D3399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D5C81A4-E94E-40A5-932B-8CB018C1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Thirteen tools turn language into capability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D512F24-F86B-48F8-892D-607E88E3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BINARY  /  4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Analyze, list functions, extract strings, inspect protections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AB3FD86-669F-4CB8-94DA-A7FE6FF4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 + NETWORK  /  3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HTTP requests, concurrent races, interactive TCP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5E7F1FD-F479-4C09-BFAB-E875B31F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EXECUTION  /  2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generated Python or an existing solver with time limits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22174D7-DB6F-43E9-B79F-1DE2329E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FILES + TRANSFORMS  /  4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Read, write, hex-encode, and hex-decode challenge artifacts</a:t>
            </a:r>
          </a:p>
        </p:txBody>
      </p:sp>
      <p:sp>
        <p:nvSpPr>
          <p:cNvPr id="7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83340D50-5BA9-42FD-B707-29F3FB37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20942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90C0CEC-AAC5-44C0-8F7A-B1EFC7FA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F572AD8-806D-4521-94AF-6CA32635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Portability, control, and proof are designed in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E97ACF81-1366-401F-9C74-0FE98785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28950A-A929-46E2-A494-39ED50F9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Category-aware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PWN, WEB, REV, CRYPTO, and MISC prompts focus the first moves.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89BEDDC1-3FD6-43F5-923C-2A9D845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347F43D-F524-42D9-ADDC-26340032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Provider-agnostic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OpenAI, Anthropic, Ollama, and Groq share one LangChain interface.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103B2D5F-5002-437D-AABC-DB5C92AF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CE424940-F62F-475B-8C7F-E723B33F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Replayable proof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Challenge solvers preserve successful techniques without an LLM dependency.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2D44AF83-ED3E-4B7A-B2BC-3D389785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5502AF57-7AAD-4C6B-8F3B-44C14ED6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Bounded execution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Iteration caps, subprocess timeouts, and output limits constrain runs.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4730612-0270-412D-AB5E-5B4553E8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Four decisions keep the harness useful beyond one challenge.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workflow stays stable while models, targets, and exploit techniques change.</a:t>
            </a:r>
          </a:p>
        </p:txBody>
      </p:sp>
      <p:sp>
        <p:nvSpPr>
          <p:cNvPr id="12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D80B828F-9F6F-4E41-A0F9-88A4ACB7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51714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193D34F-CBB9-4177-B0AA-FCBC7016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8648147-2422-4759-9A0F-61AF44CA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Eight captures prove the workflow travels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15CBF58-6DB2-43CD-80EA-E9093A48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TEMPORARY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
path traversal + templates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569B8621-AB67-4281-8C8F-40E7C301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OLDSTOCK ROUTER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FIRMWARE
SquashFS backup leak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DF508757-BFBB-41E8-B035-BF569294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STAFFDESK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
GraphQL IDOR + reset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B92F8ACC-C787-4F0C-A6C1-871FAABF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CERBERUS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
deserialization + SUID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1A74FD2-382E-42F2-8FC8-7228F714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GRIMOIRE HEAP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PWN
UAF + tcache poisoning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5B85ABE9-D73B-4C30-A9C4-36708815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SANDWORM VM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PWN
VM out-of-bounds escape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87C7E3FD-B076-4C10-96C0-D99FE7FC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SATURN EXCHANGE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
settlement race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18E773DE-01FE-4FD9-A428-3F6E25A9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PONY EXPRESS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
Handlebars AST injection</a:t>
            </a:r>
          </a:p>
        </p:txBody>
      </p:sp>
      <p:sp>
        <p:nvSpPr>
          <p:cNvPr id="11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23C541BC-AB02-49B9-B898-3B144D91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27484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81B8E85-0210-48C4-B0D1-FFD8BB6C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923F724-2D3C-4EF5-8776-9078D1E2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Saturn trusted settled balance—and ignored queued debt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BB70DB27-5CD3-411F-9753-B6303708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0714AC1-6D95-47F2-8AD8-EE143B37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validation sees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431466A0-E8F6-4B02-BF61-E8E14FC8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balance = 1.0 BTC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request = 0.6 BTC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approved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0AD7CC8C-1F80-436F-9078-C1A2722F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2A97147-21D7-44CE-B887-0DB0C61E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settlement owes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D811A94-B803-46BE-9786-2F589453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× 0.6 BTC pending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total debt = 1.8 BTC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funds never reserved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04D37DF-4C46-4CD2-B575-7258E448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flaw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Withdrawals are queued for a later batch.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request is approved against 1 BTC even while earlier withdrawals remain pending.</a:t>
            </a:r>
          </a:p>
        </p:txBody>
      </p:sp>
      <p:sp>
        <p:nvSpPr>
          <p:cNvPr id="10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9E773159-215A-4D4D-B3CE-7FBF0F55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34798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CBC189B-7A3E-4070-846E-0BFDC20F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407914-34E1-4DFF-8381-48525E14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requests turn 1 BTC into −0.8 BTC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95F02E8-7963-4C73-BC84-584C19D0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646C5A8-0177-48D8-946B-161BFB23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6B4B467-145A-46F7-B8CD-DB408047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CD50790-970D-4039-AF0E-85984B17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RESET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03E560A-3706-4477-99E0-7C740E4D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QUEUE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DDC9FC1-9752-43CC-8F58-5E24A2FE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SETTLE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409BBD5-C9DE-4DF1-B959-78CD6835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× 0.6 BTC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Send rapid requests with the same cookie before the batch closes.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F3A3C2F-8B93-46CB-8948-AC74CB81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1.0 BTC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 /api/reset creates one session with a clean balance.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66FA43C-D400-44C3-87EB-C38D8FAB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−0.8 BTC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worker subtracts 1.8 BTC; a negative balance triggers the override.</a:t>
            </a:r>
          </a:p>
        </p:txBody>
      </p:sp>
      <p:sp>
        <p:nvSpPr>
          <p:cNvPr id="13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2A655B3E-59A4-4899-9FAD-584077A1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96870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8FCBE78-D6FB-4A7D-A0C0-618E36ED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4F12833-7168-4BB7-AF21-6DD2414E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1CB2B67-FDCE-4551-A5FE-67AD486D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11C73C84-C329-40CC-91F9-B01C6230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F2B8130-1F6A-42D3-8CB3-14998EB2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live target returned the flag after settlement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6A156DE-D175-4427-AF36-A89F2FCD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BTC at reset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10FD686-F41A-4ADF-A4E9-96732FCF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BTC after settlement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BEDA838-A030-4021-8AB2-77D9C936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withdrawals queued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A06E75F7-FFCB-4B2F-BC0B-6F4214A9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7108C69-5F01-43FA-B319-794DF399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E403D2F-65DB-48FA-8EA6-6851C822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−0.8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A6499BCB-AADC-49D2-814E-8FD02C73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server response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pending = 0  ·  flag = UCSI26{4sync_settlement_r4c3_110cbe1e}</a:t>
            </a:r>
          </a:p>
        </p:txBody>
      </p:sp>
      <p:sp>
        <p:nvSpPr>
          <p:cNvPr id="13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61E94AD3-8DE1-4716-9723-BF8D09E9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73867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64DAE66-691B-460F-B236-382F68BD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0B97162-4428-4A28-8EE0-364FB49F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harness spans heap, VM, and firmware</a:t>
            </a:r>
          </a:p>
        </p:txBody>
      </p:sp>
      <p:cxnSp>
        <p:nvCxnSpPr>
          <p:cNvPr id="19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1FDC67A-1EED-4DE9-95A8-0E04C2FB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75B01C4-D841-403A-A1DC-51002FB8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43442D9-146F-4B99-88BF-D6E3CC13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DEB3959B-38C3-44AF-9002-E265C4FF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54698F4D-D8D8-45D9-9F6B-67143AE4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Grimoire Heap
Use-after-free → tcache poisoning → controlled allocation → win()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D145D940-08AE-4B7C-82E5-A6889C54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7B81100F-2E9D-4E14-AF67-E4FC988B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Sandworm VM
Missing VM bounds check → out-of-range access → host-state escape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6F431960-E5ED-4708-A845-C4EB4545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46AEE0D5-2B91-4519-BADF-EF0D00E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OldStock Router
Firmware extraction → SquashFS traversal → backup-secret discovery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358BC6C6-C806-4344-A5DC-B70DA510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PWN / VM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59A1FD5-3058-4133-A987-A14849A8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PWN / HEAP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0E733F48-75FE-4825-994B-44544321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FIRMWARE</a:t>
            </a:r>
          </a:p>
        </p:txBody>
      </p:sp>
      <p:sp>
        <p:nvSpPr>
          <p:cNvPr id="16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25A86D2A-75E4-4895-8B24-9224A96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57979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1D823C6-B416-45EC-B23B-93FA07DD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22F8A86-DB99-4C45-AA03-EB839B97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Models explore; deterministic solvers prove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48E7B777-D30F-4270-80BF-AECE315F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EEFE0CA-BD0A-4138-AA1F-DE7E1E50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Autonomous discovery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A5216733-7902-43F6-AD76-F41FAEBA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Flexible exploration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Fast hypothesis generation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 quality still matters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31D7D953-31DF-4F49-9F34-ECF955EB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B3F43C41-B382-4281-9F14-AA51B130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proof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AF4DEB9-6EAA-4E21-8ACB-429E3F3D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LLM required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Repeatable target evidence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Ideal for judging and regression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45608AF-C206-4053-8578-11653203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Trust is an engineering decision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flag-shaped model response is not enough.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strongest demo ties a target response to a replayable exploit.</a:t>
            </a:r>
          </a:p>
        </p:txBody>
      </p:sp>
      <p:sp>
        <p:nvSpPr>
          <p:cNvPr id="10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56E250BF-5ED2-421C-B641-0276C837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773505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4135F620-11EB-4747-A4B3-8990761D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Reason. Act. Prove. Replay.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76C1C3F-8548-4588-B13D-4FA1AE42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 captures · 13 tools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providers · 2 modes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github.com/H0l3yM0l3h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BBA2ABC-4D13-4E91-9300-93C41BEB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TEAM O3</a:t>
            </a:r>
          </a:p>
        </p:txBody>
      </p:sp>
      <p:sp>
        <p:nvSpPr>
          <p:cNvPr id="4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853ED8EE-BEBD-4E65-B9A9-1BA8214F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1000"/>
            <a:ext cx="85725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2037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2026-08-06T05:50:08.4540000Z</dcterms:created>
  <dcterms:modified xsi:type="dcterms:W3CDTF">2026-08-06T05:50:08.4540000Z</dcterms:modified>
</coreProperties>
</file>